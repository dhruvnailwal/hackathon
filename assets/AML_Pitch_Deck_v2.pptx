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46304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>
                <a:solidFill>
                  <a:srgbClr val="BFD7E8"/>
                </a:solidFill>
                <a:latin typeface="Calibri"/>
              </a:rPr>
              <a:t>Financial crime is hidden across channels — single-source monitors can't see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8816"/>
            <a:ext cx="11457432" cy="1524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5B1"/>
                </a:solidFill>
                <a:latin typeface="Calibri"/>
              </a:rPr>
              <a:t>Multi-Model Anomaly Detection Engine  ·  CDR · Bank ·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5B1"/>
                </a:solidFill>
                <a:latin typeface="Calibri"/>
              </a:rPr>
              <a:t>1 / 4</a:t>
            </a:r>
          </a:p>
        </p:txBody>
      </p:sp>
      <p:pic>
        <p:nvPicPr>
          <p:cNvPr id="9" name="Picture 8" descr="deck_aml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7008"/>
            <a:ext cx="5760720" cy="2033195"/>
          </a:xfrm>
          <a:prstGeom prst="rect">
            <a:avLst/>
          </a:prstGeom>
        </p:spPr>
      </p:pic>
      <p:pic>
        <p:nvPicPr>
          <p:cNvPr id="10" name="Picture 9" descr="deck_schema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0"/>
            <a:ext cx="5760720" cy="18191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532120"/>
            <a:ext cx="5760720" cy="777240"/>
          </a:xfrm>
          <a:prstGeom prst="roundRect">
            <a:avLst>
              <a:gd name="adj" fmla="val 5500"/>
            </a:avLst>
          </a:prstGeom>
          <a:solidFill>
            <a:srgbClr val="FBE8E8"/>
          </a:solidFill>
          <a:ln w="13970">
            <a:solidFill>
              <a:srgbClr val="C94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623560"/>
            <a:ext cx="82296" cy="594360"/>
          </a:xfrm>
          <a:prstGeom prst="rect">
            <a:avLst/>
          </a:prstGeom>
          <a:solidFill>
            <a:srgbClr val="C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614416"/>
            <a:ext cx="539496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F2537"/>
                </a:solidFill>
                <a:latin typeface="Calibri"/>
              </a:rPr>
              <a:t>Consequence: no fixed parser can work. The pipeline must detect schema at runtime — and say exactly when a model cannot be supported.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07008"/>
            <a:ext cx="5532120" cy="155448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C94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98448"/>
            <a:ext cx="82296" cy="1371600"/>
          </a:xfrm>
          <a:prstGeom prst="rect">
            <a:avLst/>
          </a:prstGeom>
          <a:solidFill>
            <a:srgbClr val="C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335024"/>
            <a:ext cx="5120640" cy="13258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Cross-source blindness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A5A6A"/>
                </a:solidFill>
                <a:latin typeface="Calibri"/>
              </a:rPr>
              <a:t>A call 19 minutes before a transfer is invisible to a bank-only monitor. The link between sources IS the crime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71216"/>
            <a:ext cx="5532120" cy="155448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62656"/>
            <a:ext cx="82296" cy="1371600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999232"/>
            <a:ext cx="5120640" cy="13258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Schema fragility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A5A6A"/>
                </a:solidFill>
                <a:latin typeface="Calibri"/>
              </a:rPr>
              <a:t>txn_date vs posted_at vs call_time — a hardcoded parser dies on the first new export format.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535424"/>
            <a:ext cx="5532120" cy="155448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626864"/>
            <a:ext cx="82296" cy="13716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63440"/>
            <a:ext cx="5120640" cy="132588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Coverage dishonesty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A5A6A"/>
                </a:solidFill>
                <a:latin typeface="Calibri"/>
              </a:rPr>
              <a:t>Systems silently run with missing attributes — no “insufficient data” story, no analyst trust, no accountability.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 ·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46304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>
                <a:solidFill>
                  <a:srgbClr val="BFD7E8"/>
                </a:solidFill>
                <a:latin typeface="Calibri"/>
              </a:rPr>
              <a:t>One source-agnostic pipeline — only the models the data can support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8816"/>
            <a:ext cx="11457432" cy="1524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5B1"/>
                </a:solidFill>
                <a:latin typeface="Calibri"/>
              </a:rPr>
              <a:t>Multi-Model Anomaly Detection Engine  ·  CDR · Bank ·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5B1"/>
                </a:solidFill>
                <a:latin typeface="Calibri"/>
              </a:rPr>
              <a:t>2 / 4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537960" cy="30905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74320" y="4617720"/>
            <a:ext cx="6537960" cy="169164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709160"/>
            <a:ext cx="82296" cy="150876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700016"/>
            <a:ext cx="621792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Every model reads the same unified long-format frame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5010912"/>
          <a:ext cx="6080760" cy="1147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914400"/>
                <a:gridCol w="731520"/>
                <a:gridCol w="1005840"/>
                <a:gridCol w="169164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entity_id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event_type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counterparty</a:t>
                      </a:r>
                    </a:p>
                  </a:txBody>
                  <a:tcPr marL="45720" marR="45720" marT="9144" marB="9144">
                    <a:solidFill>
                      <a:srgbClr val="0F253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09:12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cdr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transaction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09:24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bank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48,000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E047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09:27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25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086600" y="1188720"/>
            <a:ext cx="4800600" cy="33101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0F2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1280160"/>
            <a:ext cx="82296" cy="3127248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298448"/>
            <a:ext cx="4343400" cy="310896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The five-step pipeline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537"/>
                </a:solidFill>
                <a:latin typeface="Calibri"/>
              </a:rPr>
              <a:t>1.  Dynamic schema detection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fuzzy header match + content probes; source type falls out of resolved fields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8A8C"/>
                </a:solidFill>
                <a:latin typeface="Calibri"/>
              </a:rPr>
              <a:t>2.  Entity resolution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ties one person across bank, call &amp; social records without a shared ID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537"/>
                </a:solidFill>
                <a:latin typeface="Calibri"/>
              </a:rPr>
              <a:t>3.  Unified long-format frame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entity × event × source × amount × counterparty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8A8C"/>
                </a:solidFill>
                <a:latin typeface="Calibri"/>
              </a:rPr>
              <a:t>4.  Three analysis families in parallel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time · network · statistical/ML outliers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0F2537"/>
                </a:solidFill>
                <a:latin typeface="Calibri"/>
              </a:rPr>
              <a:t>5.  Fusion → explanation → dashboard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which models fired, the evidence, the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617720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F2537"/>
                </a:solidFill>
                <a:latin typeface="Calibri"/>
              </a:rPr>
              <a:t>Data-sufficiency engine — verdict per model, per source combination: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956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3D9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SUPPORTED →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59368" y="4956048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DEGRADED → run + warn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23576" y="4956048"/>
            <a:ext cx="1563624" cy="384048"/>
          </a:xfrm>
          <a:prstGeom prst="roundRect">
            <a:avLst>
              <a:gd name="adj" fmla="val 50000"/>
            </a:avLst>
          </a:prstGeom>
          <a:solidFill>
            <a:srgbClr val="C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BLOCKED → say why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468112"/>
            <a:ext cx="4800600" cy="868680"/>
          </a:xfrm>
          <a:prstGeom prst="roundRect">
            <a:avLst>
              <a:gd name="adj" fmla="val 5500"/>
            </a:avLst>
          </a:prstGeom>
          <a:solidFill>
            <a:srgbClr val="FDEEDE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86600" y="5559552"/>
            <a:ext cx="82296" cy="685800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5541264"/>
            <a:ext cx="4343400" cy="7315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1">
                <a:solidFill>
                  <a:srgbClr val="4A5A6A"/>
                </a:solidFill>
                <a:latin typeface="Calibri"/>
              </a:rPr>
              <a:t>“Network-correlation model skipped: no counterparty/edge dimension resolved. Add a CDR (phone) or bank (account) file to enable it.”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3 ·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46304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>
                <a:solidFill>
                  <a:srgbClr val="BFD7E8"/>
                </a:solidFill>
                <a:latin typeface="Calibri"/>
              </a:rPr>
              <a:t>Six capabilities make the ensemble honest, explainable and provable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8816"/>
            <a:ext cx="11457432" cy="1524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5B1"/>
                </a:solidFill>
                <a:latin typeface="Calibri"/>
              </a:rPr>
              <a:t>Multi-Model Anomaly Detection Engine  ·  CDR · Bank ·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5B1"/>
                </a:solidFill>
                <a:latin typeface="Calibri"/>
              </a:rPr>
              <a:t>3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188720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82296" cy="1298448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298448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8A8C"/>
                </a:solidFill>
                <a:latin typeface="Calibri"/>
              </a:rPr>
              <a:t>1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Dynamic schema detection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Fuzzy header match + content inference; handles renamed, unlabeled and mixed-format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1188720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384" y="1280160"/>
            <a:ext cx="82296" cy="1298448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298448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8A8C"/>
                </a:solidFill>
                <a:latin typeface="Calibri"/>
              </a:rPr>
              <a:t>2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Entity resolution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Blocking + weighted fuzzy linkage resolves one person across sources with no shared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8" y="1188720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0728" y="1280160"/>
            <a:ext cx="82296" cy="1298448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298448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8A8C"/>
                </a:solidFill>
                <a:latin typeface="Calibri"/>
              </a:rPr>
              <a:t>3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Multi-model ensemble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Time · network · stat-ML · Benford · structuring · behavioral · chain fused into one ranking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816352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07792"/>
            <a:ext cx="82296" cy="1298448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926080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A03D"/>
                </a:solidFill>
                <a:latin typeface="Calibri"/>
              </a:rPr>
              <a:t>4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Data-sufficiency engine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Per-model SUPPORTED / DEGRADED / BLOCKED verdicts with human-readable reasons — never silent failure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5384" y="2816352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15384" y="2907792"/>
            <a:ext cx="82296" cy="1298448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926080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A03D"/>
                </a:solidFill>
                <a:latin typeface="Calibri"/>
              </a:rPr>
              <a:t>5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Explainable insights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Plain-language narration per flagged entity: which models fired, the evidence, the combined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0728" y="2816352"/>
            <a:ext cx="3776472" cy="1481328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E0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0728" y="2907792"/>
            <a:ext cx="82296" cy="1298448"/>
          </a:xfrm>
          <a:prstGeom prst="rect">
            <a:avLst/>
          </a:prstGeom>
          <a:solidFill>
            <a:srgbClr val="E0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926080"/>
            <a:ext cx="3374136" cy="12801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A03D"/>
                </a:solidFill>
                <a:latin typeface="Calibri"/>
              </a:rPr>
              <a:t>6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537"/>
                </a:solidFill>
                <a:latin typeface="Calibri"/>
              </a:rPr>
              <a:t>One-command evaluation</a:t>
            </a:r>
          </a:p>
          <a:p>
            <a:pPr algn="l">
              <a:spcAft>
                <a:spcPts val="200"/>
              </a:spcAft>
            </a:pPr>
            <a:r>
              <a:rPr sz="980" b="0" i="0">
                <a:solidFill>
                  <a:srgbClr val="4A5A6A"/>
                </a:solidFill>
                <a:latin typeface="Calibri"/>
              </a:rPr>
              <a:t>Recall/precision@k, per-type ablation, H1 check and surprise hold-out from a single command</a:t>
            </a:r>
          </a:p>
        </p:txBody>
      </p:sp>
      <p:pic>
        <p:nvPicPr>
          <p:cNvPr id="27" name="Picture 26" descr="activ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315968"/>
            <a:ext cx="5806440" cy="2390887"/>
          </a:xfrm>
          <a:prstGeom prst="rect">
            <a:avLst/>
          </a:prstGeom>
        </p:spPr>
      </p:pic>
      <p:pic>
        <p:nvPicPr>
          <p:cNvPr id="28" name="Picture 27" descr="deck_model_zo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480560"/>
            <a:ext cx="4389120" cy="21597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4 · Deliverables / Proposed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146304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>
                <a:solidFill>
                  <a:srgbClr val="BFD7E8"/>
                </a:solidFill>
                <a:latin typeface="Calibri"/>
              </a:rPr>
              <a:t>What we ship — and the targets that prove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28816"/>
            <a:ext cx="11457432" cy="1524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AA5B1"/>
                </a:solidFill>
                <a:latin typeface="Calibri"/>
              </a:rPr>
              <a:t>Multi-Model Anomaly Detection Engine  ·  CDR · Bank ·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5B1"/>
                </a:solidFill>
                <a:latin typeface="Calibri"/>
              </a:rPr>
              <a:t>4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88720"/>
            <a:ext cx="5074920" cy="4617720"/>
          </a:xfrm>
          <a:prstGeom prst="roundRect">
            <a:avLst>
              <a:gd name="adj" fmla="val 5500"/>
            </a:avLst>
          </a:prstGeom>
          <a:solidFill>
            <a:srgbClr val="F4F8FA"/>
          </a:solidFill>
          <a:ln w="13970">
            <a:solidFill>
              <a:srgbClr val="3D9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82296" cy="4434840"/>
          </a:xfrm>
          <a:prstGeom prst="rect">
            <a:avLst/>
          </a:prstGeom>
          <a:solidFill>
            <a:srgbClr val="3D9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16736"/>
            <a:ext cx="4572000" cy="43891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537"/>
                </a:solidFill>
                <a:latin typeface="Calibri"/>
              </a:rPr>
              <a:t>Deliverables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Auto-adaptive ingestion + schema detection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runs on any export format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Capability registry + sufficiency engine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SUPPORTED / DEGRADED / BLOCKED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Multi-model ensemble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7 model families on one shared dataframe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Fusion ranking + explanation generator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Borda + learned meta-learner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GUI dashboard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drag &amp; drop, history, JSON/CSV/prose reports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Synthetic data + surprise answer key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write-only, leak-proof ground truth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F2537"/>
                </a:solidFill>
                <a:latin typeface="Calibri"/>
              </a:rPr>
              <a:t>✓  One-command evaluation harness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4A5A6A"/>
                </a:solidFill>
                <a:latin typeface="Calibri"/>
              </a:rPr>
              <a:t>      every claim re-producible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897880"/>
            <a:ext cx="5074920" cy="548640"/>
          </a:xfrm>
          <a:prstGeom prst="roundRect">
            <a:avLst>
              <a:gd name="adj" fmla="val 5500"/>
            </a:avLst>
          </a:prstGeom>
          <a:solidFill>
            <a:srgbClr val="EAF3EA"/>
          </a:solidFill>
          <a:ln w="13970">
            <a:solidFill>
              <a:srgbClr val="0F2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5989320"/>
            <a:ext cx="82296" cy="365760"/>
          </a:xfrm>
          <a:prstGeom prst="rect">
            <a:avLst/>
          </a:prstGeom>
          <a:solidFill>
            <a:srgbClr val="0F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952744"/>
            <a:ext cx="457200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F2537"/>
                </a:solidFill>
                <a:latin typeface="Calibri"/>
              </a:rPr>
              <a:t>Expected impact: fewer false queues, higher analyst trust, adapts to any source mix.</a:t>
            </a:r>
          </a:p>
        </p:txBody>
      </p:sp>
      <p:pic>
        <p:nvPicPr>
          <p:cNvPr id="15" name="Picture 14" descr="deck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188720"/>
            <a:ext cx="6263640" cy="2175791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23560" y="3584448"/>
          <a:ext cx="62636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234440"/>
                <a:gridCol w="17830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45720" marT="9144" marB="9144"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it is proven</a:t>
                      </a:r>
                    </a:p>
                  </a:txBody>
                  <a:tcPr marL="64008" marR="45720" marT="9144" marB="9144">
                    <a:solidFill>
                      <a:srgbClr val="0F25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recall@10 · predefined storylines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≥ 0.95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answer-key harness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recall@10 · surprise hold-out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≥ 0.80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write-only surprise key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precision@10 · false-alert control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≥ 0.60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harness + analyst review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fusion vs best single model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≥ +0.15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leave-one-out ablation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schema adoption · renamed / unlabeled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Stage-A stress test</a:t>
                      </a:r>
                    </a:p>
                  </a:txBody>
                  <a:tcPr marL="64008" marR="45720" marT="9144" marB="9144">
                    <a:solidFill>
                      <a:srgbClr val="EDF3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sufficiency verdicts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537"/>
                          </a:solidFill>
                          <a:latin typeface="Calibri"/>
                        </a:rPr>
                        <a:t>exact model + reason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2537"/>
                          </a:solidFill>
                          <a:latin typeface="Calibri"/>
                        </a:rPr>
                        <a:t>scenario matrix</a:t>
                      </a:r>
                    </a:p>
                  </a:txBody>
                  <a:tcPr marL="64008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23560" y="6053328"/>
            <a:ext cx="6263640" cy="438912"/>
          </a:xfrm>
          <a:prstGeom prst="roundRect">
            <a:avLst>
              <a:gd name="adj" fmla="val 5500"/>
            </a:avLst>
          </a:prstGeom>
          <a:solidFill>
            <a:srgbClr val="EAF3EA"/>
          </a:solidFill>
          <a:ln w="13970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6144768"/>
            <a:ext cx="82296" cy="256032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6099048"/>
            <a:ext cx="585216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0F2537"/>
                </a:solidFill>
                <a:latin typeface="Calibri"/>
              </a:rPr>
              <a:t>Generalizes beyond banking: e-commerce, ride-hailing, mobile-money — anywhere transaction + contact data overlaps.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