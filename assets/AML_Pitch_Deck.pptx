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1 ·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15400" y="146304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>
                <a:solidFill>
                  <a:srgbClr val="BFD7E8"/>
                </a:solidFill>
                <a:latin typeface="Calibri"/>
              </a:rPr>
              <a:t>Financial crime is hidden across channels — single-source monitors can't see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28816"/>
            <a:ext cx="11457432" cy="15240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5B1"/>
                </a:solidFill>
                <a:latin typeface="Calibri"/>
              </a:rPr>
              <a:t>Multi-Model Anomaly Detection Engine  ·  CDR · Bank · Social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A5B1"/>
                </a:solidFill>
                <a:latin typeface="Calibri"/>
              </a:rPr>
              <a:t>1 / 4</a:t>
            </a:r>
          </a:p>
        </p:txBody>
      </p:sp>
      <p:pic>
        <p:nvPicPr>
          <p:cNvPr id="9" name="Picture 8" descr="deck_aml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7008"/>
            <a:ext cx="5760720" cy="2033195"/>
          </a:xfrm>
          <a:prstGeom prst="rect">
            <a:avLst/>
          </a:prstGeom>
        </p:spPr>
      </p:pic>
      <p:pic>
        <p:nvPicPr>
          <p:cNvPr id="10" name="Picture 9" descr="deck_schema_cha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74720"/>
            <a:ext cx="5760720" cy="181917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532120"/>
            <a:ext cx="5760720" cy="777240"/>
          </a:xfrm>
          <a:prstGeom prst="roundRect">
            <a:avLst>
              <a:gd name="adj" fmla="val 5500"/>
            </a:avLst>
          </a:prstGeom>
          <a:solidFill>
            <a:srgbClr val="FBE8E8"/>
          </a:solidFill>
          <a:ln w="13970">
            <a:solidFill>
              <a:srgbClr val="C94F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5623560"/>
            <a:ext cx="82296" cy="594360"/>
          </a:xfrm>
          <a:prstGeom prst="rect">
            <a:avLst/>
          </a:prstGeom>
          <a:solidFill>
            <a:srgbClr val="C9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5614416"/>
            <a:ext cx="5394960" cy="6400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0F2537"/>
                </a:solidFill>
                <a:latin typeface="Calibri"/>
              </a:rPr>
              <a:t>Consequence: no fixed parser can work. The pipeline must detect schema at runtime — and say exactly when a model cannot be supported.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207008"/>
            <a:ext cx="5532120" cy="1554480"/>
          </a:xfrm>
          <a:prstGeom prst="roundRect">
            <a:avLst>
              <a:gd name="adj" fmla="val 5500"/>
            </a:avLst>
          </a:prstGeom>
          <a:solidFill>
            <a:srgbClr val="F4F8FA"/>
          </a:solidFill>
          <a:ln w="13970">
            <a:solidFill>
              <a:srgbClr val="C94F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298448"/>
            <a:ext cx="82296" cy="1371600"/>
          </a:xfrm>
          <a:prstGeom prst="rect">
            <a:avLst/>
          </a:prstGeom>
          <a:solidFill>
            <a:srgbClr val="C9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335024"/>
            <a:ext cx="5120640" cy="132588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F2537"/>
                </a:solidFill>
                <a:latin typeface="Calibri"/>
              </a:rPr>
              <a:t>Cross-source blindness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4A5A6A"/>
                </a:solidFill>
                <a:latin typeface="Calibri"/>
              </a:rPr>
              <a:t>A call 19 minutes before a transfer is invisible to a bank-only monitor. The link between sources IS the crime signal.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871216"/>
            <a:ext cx="5532120" cy="1554480"/>
          </a:xfrm>
          <a:prstGeom prst="roundRect">
            <a:avLst>
              <a:gd name="adj" fmla="val 5500"/>
            </a:avLst>
          </a:prstGeom>
          <a:solidFill>
            <a:srgbClr val="F4F8FA"/>
          </a:solidFill>
          <a:ln w="13970">
            <a:solidFill>
              <a:srgbClr val="E0A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2962656"/>
            <a:ext cx="82296" cy="1371600"/>
          </a:xfrm>
          <a:prstGeom prst="rect">
            <a:avLst/>
          </a:prstGeom>
          <a:solidFill>
            <a:srgbClr val="E0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999232"/>
            <a:ext cx="5120640" cy="132588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F2537"/>
                </a:solidFill>
                <a:latin typeface="Calibri"/>
              </a:rPr>
              <a:t>Schema fragility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4A5A6A"/>
                </a:solidFill>
                <a:latin typeface="Calibri"/>
              </a:rPr>
              <a:t>txn_date vs posted_at vs call_time — a hardcoded parser dies on the first new export format.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535424"/>
            <a:ext cx="5532120" cy="1554480"/>
          </a:xfrm>
          <a:prstGeom prst="roundRect">
            <a:avLst>
              <a:gd name="adj" fmla="val 5500"/>
            </a:avLst>
          </a:prstGeom>
          <a:solidFill>
            <a:srgbClr val="F4F8FA"/>
          </a:solidFill>
          <a:ln w="1397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4626864"/>
            <a:ext cx="82296" cy="1371600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663440"/>
            <a:ext cx="5120640" cy="132588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F2537"/>
                </a:solidFill>
                <a:latin typeface="Calibri"/>
              </a:rPr>
              <a:t>Coverage dishonesty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4A5A6A"/>
                </a:solidFill>
                <a:latin typeface="Calibri"/>
              </a:rPr>
              <a:t>Systems silently run with missing attributes — no “insufficient data” story, no analyst trust, no accountability.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2 ·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15400" y="146304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>
                <a:solidFill>
                  <a:srgbClr val="BFD7E8"/>
                </a:solidFill>
                <a:latin typeface="Calibri"/>
              </a:rPr>
              <a:t>One source-agnostic pipeline — only the models the data can support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28816"/>
            <a:ext cx="11457432" cy="15240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5B1"/>
                </a:solidFill>
                <a:latin typeface="Calibri"/>
              </a:rPr>
              <a:t>Multi-Model Anomaly Detection Engine  ·  CDR · Bank · Social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A5B1"/>
                </a:solidFill>
                <a:latin typeface="Calibri"/>
              </a:rPr>
              <a:t>2 / 4</a:t>
            </a:r>
          </a:p>
        </p:txBody>
      </p:sp>
      <p:pic>
        <p:nvPicPr>
          <p:cNvPr id="9" name="Picture 8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537960" cy="309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74320" y="4617720"/>
            <a:ext cx="6537960" cy="1691640"/>
          </a:xfrm>
          <a:prstGeom prst="roundRect">
            <a:avLst>
              <a:gd name="adj" fmla="val 5500"/>
            </a:avLst>
          </a:prstGeom>
          <a:solidFill>
            <a:srgbClr val="F4F8FA"/>
          </a:solidFill>
          <a:ln w="13970">
            <a:solidFill>
              <a:srgbClr val="1F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4709160"/>
            <a:ext cx="82296" cy="150876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700016"/>
            <a:ext cx="6217920" cy="2743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F2537"/>
                </a:solidFill>
                <a:latin typeface="Calibri"/>
              </a:rPr>
              <a:t>Every model reads the same unified long-format frame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5010912"/>
          <a:ext cx="6080760" cy="1147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914400"/>
                <a:gridCol w="914400"/>
                <a:gridCol w="731520"/>
                <a:gridCol w="1005840"/>
                <a:gridCol w="1691640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entity_id</a:t>
                      </a:r>
                    </a:p>
                  </a:txBody>
                  <a:tcPr marL="45720" marR="45720" marT="9144" marB="9144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event_type</a:t>
                      </a:r>
                    </a:p>
                  </a:txBody>
                  <a:tcPr marL="45720" marR="45720" marT="9144" marB="9144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timestamp</a:t>
                      </a:r>
                    </a:p>
                  </a:txBody>
                  <a:tcPr marL="45720" marR="45720" marT="9144" marB="9144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45720" marR="45720" marT="9144" marB="9144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marL="45720" marR="45720" marT="9144" marB="9144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counterparty</a:t>
                      </a:r>
                    </a:p>
                  </a:txBody>
                  <a:tcPr marL="45720" marR="45720" marT="9144" marB="9144">
                    <a:solidFill>
                      <a:srgbClr val="0F253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E014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call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09:12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cdr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E027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E014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transaction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09:24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bank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48,000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E027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E047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09:27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social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086600" y="1188720"/>
            <a:ext cx="4800600" cy="3310128"/>
          </a:xfrm>
          <a:prstGeom prst="roundRect">
            <a:avLst>
              <a:gd name="adj" fmla="val 5500"/>
            </a:avLst>
          </a:prstGeom>
          <a:solidFill>
            <a:srgbClr val="F4F8FA"/>
          </a:solidFill>
          <a:ln w="13970">
            <a:solidFill>
              <a:srgbClr val="0F2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86600" y="1280160"/>
            <a:ext cx="82296" cy="3127248"/>
          </a:xfrm>
          <a:prstGeom prst="rect">
            <a:avLst/>
          </a:prstGeom>
          <a:solidFill>
            <a:srgbClr val="0F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1298448"/>
            <a:ext cx="4343400" cy="310896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2537"/>
                </a:solidFill>
                <a:latin typeface="Calibri"/>
              </a:rPr>
              <a:t>The five-step pipeline</a:t>
            </a:r>
          </a:p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537"/>
                </a:solidFill>
                <a:latin typeface="Calibri"/>
              </a:rPr>
              <a:t>1.  Dynamic schema detection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4A5A6A"/>
                </a:solidFill>
                <a:latin typeface="Calibri"/>
              </a:rPr>
              <a:t>fuzzy header match + content probes; source type falls out of resolved fields</a:t>
            </a:r>
          </a:p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1F8A8C"/>
                </a:solidFill>
                <a:latin typeface="Calibri"/>
              </a:rPr>
              <a:t>2.  Entity resolution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4A5A6A"/>
                </a:solidFill>
                <a:latin typeface="Calibri"/>
              </a:rPr>
              <a:t>ties one person across bank, call &amp; social records without a shared ID</a:t>
            </a:r>
          </a:p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537"/>
                </a:solidFill>
                <a:latin typeface="Calibri"/>
              </a:rPr>
              <a:t>3.  Unified long-format frame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4A5A6A"/>
                </a:solidFill>
                <a:latin typeface="Calibri"/>
              </a:rPr>
              <a:t>entity × event × source × amount × counterparty</a:t>
            </a:r>
          </a:p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1F8A8C"/>
                </a:solidFill>
                <a:latin typeface="Calibri"/>
              </a:rPr>
              <a:t>4.  Three analysis families in parallel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4A5A6A"/>
                </a:solidFill>
                <a:latin typeface="Calibri"/>
              </a:rPr>
              <a:t>time · network · statistical/ML outliers</a:t>
            </a:r>
          </a:p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537"/>
                </a:solidFill>
                <a:latin typeface="Calibri"/>
              </a:rPr>
              <a:t>5.  Fusion → explanation → dashboard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4A5A6A"/>
                </a:solidFill>
                <a:latin typeface="Calibri"/>
              </a:rPr>
              <a:t>which models fired, the evidence, the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617720"/>
            <a:ext cx="4800600" cy="2743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0F2537"/>
                </a:solidFill>
                <a:latin typeface="Calibri"/>
              </a:rPr>
              <a:t>Data-sufficiency engine — verdict per model, per source combination: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495604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3D9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SUPPORTED → run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59368" y="4956048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E0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DEGRADED → run + warn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23576" y="4956048"/>
            <a:ext cx="1563624" cy="384048"/>
          </a:xfrm>
          <a:prstGeom prst="roundRect">
            <a:avLst>
              <a:gd name="adj" fmla="val 50000"/>
            </a:avLst>
          </a:prstGeom>
          <a:solidFill>
            <a:srgbClr val="C9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BLOCKED → say why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5468112"/>
            <a:ext cx="4800600" cy="868680"/>
          </a:xfrm>
          <a:prstGeom prst="roundRect">
            <a:avLst>
              <a:gd name="adj" fmla="val 5500"/>
            </a:avLst>
          </a:prstGeom>
          <a:solidFill>
            <a:srgbClr val="FDEEDE"/>
          </a:solidFill>
          <a:ln w="13970">
            <a:solidFill>
              <a:srgbClr val="E0A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86600" y="5559552"/>
            <a:ext cx="82296" cy="685800"/>
          </a:xfrm>
          <a:prstGeom prst="rect">
            <a:avLst/>
          </a:prstGeom>
          <a:solidFill>
            <a:srgbClr val="E0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5541264"/>
            <a:ext cx="4343400" cy="7315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1">
                <a:solidFill>
                  <a:srgbClr val="4A5A6A"/>
                </a:solidFill>
                <a:latin typeface="Calibri"/>
              </a:rPr>
              <a:t>“Network-correlation model skipped: no counterparty/edge dimension resolved. Add a CDR (phone) or bank (account) file to enable it.”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3 ·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15400" y="146304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>
                <a:solidFill>
                  <a:srgbClr val="BFD7E8"/>
                </a:solidFill>
                <a:latin typeface="Calibri"/>
              </a:rPr>
              <a:t>Six capabilities make the ensemble honest, explainable and provable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28816"/>
            <a:ext cx="11457432" cy="15240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5B1"/>
                </a:solidFill>
                <a:latin typeface="Calibri"/>
              </a:rPr>
              <a:t>Multi-Model Anomaly Detection Engine  ·  CDR · Bank · Social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A5B1"/>
                </a:solidFill>
                <a:latin typeface="Calibri"/>
              </a:rPr>
              <a:t>3 /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188720"/>
            <a:ext cx="3776472" cy="1481328"/>
          </a:xfrm>
          <a:prstGeom prst="roundRect">
            <a:avLst>
              <a:gd name="adj" fmla="val 5500"/>
            </a:avLst>
          </a:prstGeom>
          <a:solidFill>
            <a:srgbClr val="F4F8FA"/>
          </a:solidFill>
          <a:ln w="13970">
            <a:solidFill>
              <a:srgbClr val="1F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80160"/>
            <a:ext cx="82296" cy="1298448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298448"/>
            <a:ext cx="3374136" cy="12801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F8A8C"/>
                </a:solidFill>
                <a:latin typeface="Calibri"/>
              </a:rPr>
              <a:t>1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2537"/>
                </a:solidFill>
                <a:latin typeface="Calibri"/>
              </a:rPr>
              <a:t>Dynamic schema detection</a:t>
            </a:r>
          </a:p>
          <a:p>
            <a:pPr algn="l">
              <a:spcAft>
                <a:spcPts val="200"/>
              </a:spcAft>
            </a:pPr>
            <a:r>
              <a:rPr sz="980" b="0" i="0">
                <a:solidFill>
                  <a:srgbClr val="4A5A6A"/>
                </a:solidFill>
                <a:latin typeface="Calibri"/>
              </a:rPr>
              <a:t>Fuzzy header match + content inference; handles renamed, unlabeled and mixed-format 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15384" y="1188720"/>
            <a:ext cx="3776472" cy="1481328"/>
          </a:xfrm>
          <a:prstGeom prst="roundRect">
            <a:avLst>
              <a:gd name="adj" fmla="val 5500"/>
            </a:avLst>
          </a:prstGeom>
          <a:solidFill>
            <a:srgbClr val="F4F8FA"/>
          </a:solidFill>
          <a:ln w="13970">
            <a:solidFill>
              <a:srgbClr val="1F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15384" y="1280160"/>
            <a:ext cx="82296" cy="1298448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1298448"/>
            <a:ext cx="3374136" cy="12801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F8A8C"/>
                </a:solidFill>
                <a:latin typeface="Calibri"/>
              </a:rPr>
              <a:t>2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2537"/>
                </a:solidFill>
                <a:latin typeface="Calibri"/>
              </a:rPr>
              <a:t>Entity resolution</a:t>
            </a:r>
          </a:p>
          <a:p>
            <a:pPr algn="l">
              <a:spcAft>
                <a:spcPts val="200"/>
              </a:spcAft>
            </a:pPr>
            <a:r>
              <a:rPr sz="980" b="0" i="0">
                <a:solidFill>
                  <a:srgbClr val="4A5A6A"/>
                </a:solidFill>
                <a:latin typeface="Calibri"/>
              </a:rPr>
              <a:t>Blocking + weighted fuzzy linkage resolves one person across sources with no shared 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0728" y="1188720"/>
            <a:ext cx="3776472" cy="1481328"/>
          </a:xfrm>
          <a:prstGeom prst="roundRect">
            <a:avLst>
              <a:gd name="adj" fmla="val 5500"/>
            </a:avLst>
          </a:prstGeom>
          <a:solidFill>
            <a:srgbClr val="F4F8FA"/>
          </a:solidFill>
          <a:ln w="13970">
            <a:solidFill>
              <a:srgbClr val="1F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0728" y="1280160"/>
            <a:ext cx="82296" cy="1298448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298448"/>
            <a:ext cx="3374136" cy="12801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F8A8C"/>
                </a:solidFill>
                <a:latin typeface="Calibri"/>
              </a:rPr>
              <a:t>3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2537"/>
                </a:solidFill>
                <a:latin typeface="Calibri"/>
              </a:rPr>
              <a:t>Multi-model ensemble</a:t>
            </a:r>
          </a:p>
          <a:p>
            <a:pPr algn="l">
              <a:spcAft>
                <a:spcPts val="200"/>
              </a:spcAft>
            </a:pPr>
            <a:r>
              <a:rPr sz="980" b="0" i="0">
                <a:solidFill>
                  <a:srgbClr val="4A5A6A"/>
                </a:solidFill>
                <a:latin typeface="Calibri"/>
              </a:rPr>
              <a:t>Time · network · stat-ML · Benford · structuring · behavioral · chain fused into one ranking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2816352"/>
            <a:ext cx="3776472" cy="1481328"/>
          </a:xfrm>
          <a:prstGeom prst="roundRect">
            <a:avLst>
              <a:gd name="adj" fmla="val 5500"/>
            </a:avLst>
          </a:prstGeom>
          <a:solidFill>
            <a:srgbClr val="F4F8FA"/>
          </a:solidFill>
          <a:ln w="13970">
            <a:solidFill>
              <a:srgbClr val="E0A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07792"/>
            <a:ext cx="82296" cy="1298448"/>
          </a:xfrm>
          <a:prstGeom prst="rect">
            <a:avLst/>
          </a:prstGeom>
          <a:solidFill>
            <a:srgbClr val="E0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2926080"/>
            <a:ext cx="3374136" cy="12801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E0A03D"/>
                </a:solidFill>
                <a:latin typeface="Calibri"/>
              </a:rPr>
              <a:t>4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2537"/>
                </a:solidFill>
                <a:latin typeface="Calibri"/>
              </a:rPr>
              <a:t>Data-sufficiency engine</a:t>
            </a:r>
          </a:p>
          <a:p>
            <a:pPr algn="l">
              <a:spcAft>
                <a:spcPts val="200"/>
              </a:spcAft>
            </a:pPr>
            <a:r>
              <a:rPr sz="980" b="0" i="0">
                <a:solidFill>
                  <a:srgbClr val="4A5A6A"/>
                </a:solidFill>
                <a:latin typeface="Calibri"/>
              </a:rPr>
              <a:t>Per-model SUPPORTED / DEGRADED / BLOCKED verdicts with human-readable reasons — never silent failure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15384" y="2816352"/>
            <a:ext cx="3776472" cy="1481328"/>
          </a:xfrm>
          <a:prstGeom prst="roundRect">
            <a:avLst>
              <a:gd name="adj" fmla="val 5500"/>
            </a:avLst>
          </a:prstGeom>
          <a:solidFill>
            <a:srgbClr val="F4F8FA"/>
          </a:solidFill>
          <a:ln w="13970">
            <a:solidFill>
              <a:srgbClr val="E0A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15384" y="2907792"/>
            <a:ext cx="82296" cy="1298448"/>
          </a:xfrm>
          <a:prstGeom prst="rect">
            <a:avLst/>
          </a:prstGeom>
          <a:solidFill>
            <a:srgbClr val="E0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71416" y="2926080"/>
            <a:ext cx="3374136" cy="12801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E0A03D"/>
                </a:solidFill>
                <a:latin typeface="Calibri"/>
              </a:rPr>
              <a:t>5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2537"/>
                </a:solidFill>
                <a:latin typeface="Calibri"/>
              </a:rPr>
              <a:t>Explainable insights</a:t>
            </a:r>
          </a:p>
          <a:p>
            <a:pPr algn="l">
              <a:spcAft>
                <a:spcPts val="200"/>
              </a:spcAft>
            </a:pPr>
            <a:r>
              <a:rPr sz="980" b="0" i="0">
                <a:solidFill>
                  <a:srgbClr val="4A5A6A"/>
                </a:solidFill>
                <a:latin typeface="Calibri"/>
              </a:rPr>
              <a:t>Plain-language narration per flagged entity: which models fired, the evidence, the combined score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0728" y="2816352"/>
            <a:ext cx="3776472" cy="1481328"/>
          </a:xfrm>
          <a:prstGeom prst="roundRect">
            <a:avLst>
              <a:gd name="adj" fmla="val 5500"/>
            </a:avLst>
          </a:prstGeom>
          <a:solidFill>
            <a:srgbClr val="F4F8FA"/>
          </a:solidFill>
          <a:ln w="13970">
            <a:solidFill>
              <a:srgbClr val="E0A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10728" y="2907792"/>
            <a:ext cx="82296" cy="1298448"/>
          </a:xfrm>
          <a:prstGeom prst="rect">
            <a:avLst/>
          </a:prstGeom>
          <a:solidFill>
            <a:srgbClr val="E0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2926080"/>
            <a:ext cx="3374136" cy="12801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E0A03D"/>
                </a:solidFill>
                <a:latin typeface="Calibri"/>
              </a:rPr>
              <a:t>6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2537"/>
                </a:solidFill>
                <a:latin typeface="Calibri"/>
              </a:rPr>
              <a:t>One-command evaluation</a:t>
            </a:r>
          </a:p>
          <a:p>
            <a:pPr algn="l">
              <a:spcAft>
                <a:spcPts val="200"/>
              </a:spcAft>
            </a:pPr>
            <a:r>
              <a:rPr sz="980" b="0" i="0">
                <a:solidFill>
                  <a:srgbClr val="4A5A6A"/>
                </a:solidFill>
                <a:latin typeface="Calibri"/>
              </a:rPr>
              <a:t>Recall/precision@k, per-type ablation, H1 check and surprise hold-out from a single command</a:t>
            </a:r>
          </a:p>
        </p:txBody>
      </p:sp>
      <p:pic>
        <p:nvPicPr>
          <p:cNvPr id="27" name="Picture 26" descr="activ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315968"/>
            <a:ext cx="5806440" cy="2390887"/>
          </a:xfrm>
          <a:prstGeom prst="rect">
            <a:avLst/>
          </a:prstGeom>
        </p:spPr>
      </p:pic>
      <p:pic>
        <p:nvPicPr>
          <p:cNvPr id="28" name="Picture 27" descr="deck_model_zo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480560"/>
            <a:ext cx="4389120" cy="21597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4 · Deliverables / Proposed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15400" y="146304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>
                <a:solidFill>
                  <a:srgbClr val="BFD7E8"/>
                </a:solidFill>
                <a:latin typeface="Calibri"/>
              </a:rPr>
              <a:t>Working today — every claim is harness-measured, not illustrative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28816"/>
            <a:ext cx="11457432" cy="15240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5B1"/>
                </a:solidFill>
                <a:latin typeface="Calibri"/>
              </a:rPr>
              <a:t>Multi-Model Anomaly Detection Engine  ·  CDR · Bank · Social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A5B1"/>
                </a:solidFill>
                <a:latin typeface="Calibri"/>
              </a:rPr>
              <a:t>4 /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188720"/>
            <a:ext cx="5074920" cy="5138928"/>
          </a:xfrm>
          <a:prstGeom prst="roundRect">
            <a:avLst>
              <a:gd name="adj" fmla="val 5500"/>
            </a:avLst>
          </a:prstGeom>
          <a:solidFill>
            <a:srgbClr val="F4F8FA"/>
          </a:solidFill>
          <a:ln w="13970">
            <a:solidFill>
              <a:srgbClr val="3D9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82296" cy="4956048"/>
          </a:xfrm>
          <a:prstGeom prst="rect">
            <a:avLst/>
          </a:prstGeom>
          <a:solidFill>
            <a:srgbClr val="3D9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316736"/>
            <a:ext cx="4572000" cy="493776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537"/>
                </a:solidFill>
                <a:latin typeface="Calibri"/>
              </a:rPr>
              <a:t>What we ship — working today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F2537"/>
                </a:solidFill>
                <a:latin typeface="Calibri"/>
              </a:rPr>
              <a:t>✓  Auto-adaptive ingestion + schema detection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4A5A6A"/>
                </a:solidFill>
                <a:latin typeface="Calibri"/>
              </a:rPr>
              <a:t>      dirty-data audit 14/14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F2537"/>
                </a:solidFill>
                <a:latin typeface="Calibri"/>
              </a:rPr>
              <a:t>✓  Capability registry + sufficiency engine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4A5A6A"/>
                </a:solidFill>
                <a:latin typeface="Calibri"/>
              </a:rPr>
              <a:t>      SUPPORTED / DEGRADED / BLOCKED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F2537"/>
                </a:solidFill>
                <a:latin typeface="Calibri"/>
              </a:rPr>
              <a:t>✓  7 model families, ~36 candidates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4A5A6A"/>
                </a:solidFill>
                <a:latin typeface="Calibri"/>
              </a:rPr>
              <a:t>      one shared dataframe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F2537"/>
                </a:solidFill>
                <a:latin typeface="Calibri"/>
              </a:rPr>
              <a:t>✓  Fusion ranking + explanation generator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4A5A6A"/>
                </a:solidFill>
                <a:latin typeface="Calibri"/>
              </a:rPr>
              <a:t>      Borda + learned meta-learner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F2537"/>
                </a:solidFill>
                <a:latin typeface="Calibri"/>
              </a:rPr>
              <a:t>✓  GUI dashboard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4A5A6A"/>
                </a:solidFill>
                <a:latin typeface="Calibri"/>
              </a:rPr>
              <a:t>      drag &amp; drop, history, JSON/CSV/prose reports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F2537"/>
                </a:solidFill>
                <a:latin typeface="Calibri"/>
              </a:rPr>
              <a:t>✓  Synthetic generator + surprise answer key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4A5A6A"/>
                </a:solidFill>
                <a:latin typeface="Calibri"/>
              </a:rPr>
              <a:t>      write-only, leak-proof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F2537"/>
                </a:solidFill>
                <a:latin typeface="Calibri"/>
              </a:rPr>
              <a:t>✓  One-command eval harness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4A5A6A"/>
                </a:solidFill>
                <a:latin typeface="Calibri"/>
              </a:rPr>
              <a:t>      92 pytest green</a:t>
            </a:r>
          </a:p>
        </p:txBody>
      </p:sp>
      <p:pic>
        <p:nvPicPr>
          <p:cNvPr id="12" name="Picture 11" descr="deck_eval_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188720"/>
            <a:ext cx="6263640" cy="23076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23560" y="3675887"/>
            <a:ext cx="6263640" cy="2743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F2537"/>
                </a:solidFill>
                <a:latin typeface="Calibri"/>
              </a:rPr>
              <a:t>Proposed outcome — targets vs measured (deterministic eval snapshot)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23560" y="3968496"/>
          <a:ext cx="626364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371600"/>
                <a:gridCol w="132588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64008" marR="45720" marT="9144" marB="9144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Measured</a:t>
                      </a:r>
                    </a:p>
                  </a:txBody>
                  <a:tcPr marL="64008" marR="45720" marT="9144" marB="9144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64008" marR="45720" marT="9144" marB="9144">
                    <a:solidFill>
                      <a:srgbClr val="0F253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2537"/>
                          </a:solidFill>
                          <a:latin typeface="Calibri"/>
                        </a:rPr>
                        <a:t>recall@10 · predefined storylines</a:t>
                      </a:r>
                    </a:p>
                  </a:txBody>
                  <a:tcPr marL="64008" marR="45720" marT="9144" marB="9144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2537"/>
                          </a:solidFill>
                          <a:latin typeface="Calibri"/>
                        </a:rPr>
                        <a:t>0.43 baseline</a:t>
                      </a:r>
                    </a:p>
                  </a:txBody>
                  <a:tcPr marL="64008" marR="45720" marT="9144" marB="9144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2537"/>
                          </a:solidFill>
                          <a:latin typeface="Calibri"/>
                        </a:rPr>
                        <a:t>≥ 0.95*</a:t>
                      </a:r>
                    </a:p>
                  </a:txBody>
                  <a:tcPr marL="64008" marR="45720" marT="9144" marB="9144">
                    <a:solidFill>
                      <a:srgbClr val="EDF3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2537"/>
                          </a:solidFill>
                          <a:latin typeface="Calibri"/>
                        </a:rPr>
                        <a:t>precision@10 · false-alert control</a:t>
                      </a:r>
                    </a:p>
                  </a:txBody>
                  <a:tcPr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2537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2537"/>
                          </a:solidFill>
                          <a:latin typeface="Calibri"/>
                        </a:rPr>
                        <a:t>≥ 0.60</a:t>
                      </a:r>
                    </a:p>
                  </a:txBody>
                  <a:tcPr marL="64008" marR="45720" marT="9144" marB="9144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2537"/>
                          </a:solidFill>
                          <a:latin typeface="Calibri"/>
                        </a:rPr>
                        <a:t>fusion vs best single model</a:t>
                      </a:r>
                    </a:p>
                  </a:txBody>
                  <a:tcPr marL="64008" marR="45720" marT="9144" marB="9144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2537"/>
                          </a:solidFill>
                          <a:latin typeface="Calibri"/>
                        </a:rPr>
                        <a:t>+29% relative</a:t>
                      </a:r>
                    </a:p>
                  </a:txBody>
                  <a:tcPr marL="64008" marR="45720" marT="9144" marB="9144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2537"/>
                          </a:solidFill>
                          <a:latin typeface="Calibri"/>
                        </a:rPr>
                        <a:t>+15%*</a:t>
                      </a:r>
                    </a:p>
                  </a:txBody>
                  <a:tcPr marL="64008" marR="45720" marT="9144" marB="9144">
                    <a:solidFill>
                      <a:srgbClr val="EDF3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2537"/>
                          </a:solidFill>
                          <a:latin typeface="Calibri"/>
                        </a:rPr>
                        <a:t>schema stress · renamed / unlabeled files</a:t>
                      </a:r>
                    </a:p>
                  </a:txBody>
                  <a:tcPr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2537"/>
                          </a:solidFill>
                          <a:latin typeface="Calibri"/>
                        </a:rPr>
                        <a:t>14 / 14</a:t>
                      </a:r>
                    </a:p>
                  </a:txBody>
                  <a:tcPr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2537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64008" marR="45720" marT="9144" marB="9144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2537"/>
                          </a:solidFill>
                          <a:latin typeface="Calibri"/>
                        </a:rPr>
                        <a:t>surprise hold-out · write-only key</a:t>
                      </a:r>
                    </a:p>
                  </a:txBody>
                  <a:tcPr marL="64008" marR="45720" marT="9144" marB="9144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2537"/>
                          </a:solidFill>
                          <a:latin typeface="Calibri"/>
                        </a:rPr>
                        <a:t>12 / 12 mapped</a:t>
                      </a:r>
                    </a:p>
                  </a:txBody>
                  <a:tcPr marL="64008" marR="45720" marT="9144" marB="9144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2537"/>
                          </a:solidFill>
                          <a:latin typeface="Calibri"/>
                        </a:rPr>
                        <a:t>≥ 0.80 recall*</a:t>
                      </a:r>
                    </a:p>
                  </a:txBody>
                  <a:tcPr marL="64008" marR="45720" marT="9144" marB="9144">
                    <a:solidFill>
                      <a:srgbClr val="EDF3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2537"/>
                          </a:solidFill>
                          <a:latin typeface="Calibri"/>
                        </a:rPr>
                        <a:t>regression suite</a:t>
                      </a:r>
                    </a:p>
                  </a:txBody>
                  <a:tcPr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2537"/>
                          </a:solidFill>
                          <a:latin typeface="Calibri"/>
                        </a:rPr>
                        <a:t>92 pytest</a:t>
                      </a:r>
                    </a:p>
                  </a:txBody>
                  <a:tcPr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2537"/>
                          </a:solidFill>
                          <a:latin typeface="Calibri"/>
                        </a:rPr>
                        <a:t>stay green</a:t>
                      </a:r>
                    </a:p>
                  </a:txBody>
                  <a:tcPr marL="64008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623560" y="6236208"/>
            <a:ext cx="6263640" cy="2743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9AA5B1"/>
                </a:solidFill>
                <a:latin typeface="Calibri"/>
              </a:rPr>
              <a:t>*Targets are reached by threshold tuning only — models and features are frozen after the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